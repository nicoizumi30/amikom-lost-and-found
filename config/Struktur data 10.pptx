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753600" cy="7315200"/>
  <p:notesSz cx="6858000" cy="9144000"/>
  <p:embeddedFontLst>
    <p:embeddedFont>
      <p:font typeface="Arvo" charset="1" panose="02000000000000000000"/>
      <p:regular r:id="rId16"/>
    </p:embeddedFont>
    <p:embeddedFont>
      <p:font typeface="Lato Hairline" charset="1" panose="020F0202020204030203"/>
      <p:regular r:id="rId17"/>
    </p:embeddedFont>
    <p:embeddedFont>
      <p:font typeface="Lato" charset="1" panose="020F0502020204030203"/>
      <p:regular r:id="rId18"/>
    </p:embeddedFont>
    <p:embeddedFont>
      <p:font typeface="Lato Bold" charset="1" panose="020F0802020204030203"/>
      <p:regular r:id="rId19"/>
    </p:embeddedFont>
    <p:embeddedFont>
      <p:font typeface="Lato Hairline Bold" charset="1" panose="020F03020202040302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73" t="-149" r="-6422" b="-14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9509" y="2529657"/>
            <a:ext cx="9966009" cy="2265433"/>
          </a:xfrm>
          <a:custGeom>
            <a:avLst/>
            <a:gdLst/>
            <a:ahLst/>
            <a:cxnLst/>
            <a:rect r="r" b="b" t="t" l="l"/>
            <a:pathLst>
              <a:path h="2265433" w="9966009">
                <a:moveTo>
                  <a:pt x="0" y="0"/>
                </a:moveTo>
                <a:lnTo>
                  <a:pt x="9966009" y="0"/>
                </a:lnTo>
                <a:lnTo>
                  <a:pt x="9966009" y="2265433"/>
                </a:lnTo>
                <a:lnTo>
                  <a:pt x="0" y="22654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69958" r="0" b="-169958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28527" y="3115914"/>
            <a:ext cx="9089213" cy="1106781"/>
            <a:chOff x="0" y="0"/>
            <a:chExt cx="12118950" cy="147570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14300"/>
              <a:ext cx="12118950" cy="12569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88"/>
                </a:lnSpc>
              </a:pPr>
              <a:r>
                <a:rPr lang="en-US" sz="5634">
                  <a:solidFill>
                    <a:srgbClr val="FFFFFF"/>
                  </a:solidFill>
                  <a:latin typeface="Arvo"/>
                  <a:ea typeface="Arvo"/>
                  <a:cs typeface="Arvo"/>
                  <a:sym typeface="Arvo"/>
                </a:rPr>
                <a:t>TREE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041748"/>
              <a:ext cx="12118950" cy="433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35"/>
                </a:lnSpc>
              </a:pPr>
              <a:r>
                <a:rPr lang="en-US" sz="1811">
                  <a:solidFill>
                    <a:srgbClr val="FFFFFF"/>
                  </a:solidFill>
                  <a:latin typeface="Lato Hairline"/>
                  <a:ea typeface="Lato Hairline"/>
                  <a:cs typeface="Lato Hairline"/>
                  <a:sym typeface="Lato Hairline"/>
                </a:rPr>
                <a:t>PERTEMUAN 10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98558" y="6712901"/>
            <a:ext cx="9966009" cy="622777"/>
          </a:xfrm>
          <a:custGeom>
            <a:avLst/>
            <a:gdLst/>
            <a:ahLst/>
            <a:cxnLst/>
            <a:rect r="r" b="b" t="t" l="l"/>
            <a:pathLst>
              <a:path h="622777" w="9966009">
                <a:moveTo>
                  <a:pt x="0" y="0"/>
                </a:moveTo>
                <a:lnTo>
                  <a:pt x="9966009" y="0"/>
                </a:lnTo>
                <a:lnTo>
                  <a:pt x="9966009" y="622776"/>
                </a:lnTo>
                <a:lnTo>
                  <a:pt x="0" y="622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750127" r="0" b="-750127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8527" y="6912777"/>
            <a:ext cx="9089213" cy="174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8"/>
              </a:lnSpc>
            </a:pPr>
            <a:r>
              <a:rPr lang="en-US" sz="1006" spc="11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STRUKTUR DATA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6B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1600" y="6692900"/>
            <a:ext cx="9966009" cy="622777"/>
          </a:xfrm>
          <a:custGeom>
            <a:avLst/>
            <a:gdLst/>
            <a:ahLst/>
            <a:cxnLst/>
            <a:rect r="r" b="b" t="t" l="l"/>
            <a:pathLst>
              <a:path h="622777" w="9966009">
                <a:moveTo>
                  <a:pt x="0" y="0"/>
                </a:moveTo>
                <a:lnTo>
                  <a:pt x="9966009" y="0"/>
                </a:lnTo>
                <a:lnTo>
                  <a:pt x="9966009" y="622777"/>
                </a:lnTo>
                <a:lnTo>
                  <a:pt x="0" y="6227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50127" r="0" b="-7501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0200" y="6899354"/>
            <a:ext cx="9089213" cy="174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8"/>
              </a:lnSpc>
            </a:pPr>
            <a:r>
              <a:rPr lang="en-US" sz="1006" spc="11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STRUKTUR DATA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04717" y="2396105"/>
            <a:ext cx="7953375" cy="2522990"/>
            <a:chOff x="0" y="0"/>
            <a:chExt cx="10604500" cy="336398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0"/>
              <a:ext cx="10604500" cy="9427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16"/>
                </a:lnSpc>
              </a:pPr>
              <a:r>
                <a:rPr lang="en-US" sz="4226">
                  <a:solidFill>
                    <a:srgbClr val="FFFFFF"/>
                  </a:solidFill>
                  <a:latin typeface="Arvo"/>
                  <a:ea typeface="Arvo"/>
                  <a:cs typeface="Arvo"/>
                  <a:sym typeface="Arvo"/>
                </a:rPr>
                <a:t>PENGERTIAN TREE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753533" y="882851"/>
              <a:ext cx="9080500" cy="24811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58"/>
                </a:lnSpc>
              </a:pPr>
              <a:r>
                <a:rPr lang="en-US" sz="2113" spc="21">
                  <a:solidFill>
                    <a:srgbClr val="FFFFFF"/>
                  </a:solidFill>
                  <a:latin typeface="Lato Hairline"/>
                  <a:ea typeface="Lato Hairline"/>
                  <a:cs typeface="Lato Hairline"/>
                  <a:sym typeface="Lato Hairline"/>
                </a:rPr>
                <a:t>Tree adalah struktur data non-linear yang terdiri dari node yang dihubungkan oleh edge. Tree sering digunakan untuk merepresentasikan hubungan hirarki, seperti struktur organisasi, folder dalam file system, atau ekspresi matematika.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1600" y="6692900"/>
            <a:ext cx="9966009" cy="622777"/>
          </a:xfrm>
          <a:custGeom>
            <a:avLst/>
            <a:gdLst/>
            <a:ahLst/>
            <a:cxnLst/>
            <a:rect r="r" b="b" t="t" l="l"/>
            <a:pathLst>
              <a:path h="622777" w="9966009">
                <a:moveTo>
                  <a:pt x="0" y="0"/>
                </a:moveTo>
                <a:lnTo>
                  <a:pt x="9966009" y="0"/>
                </a:lnTo>
                <a:lnTo>
                  <a:pt x="9966009" y="622777"/>
                </a:lnTo>
                <a:lnTo>
                  <a:pt x="0" y="6227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50127" r="0" b="-7501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0200" y="6899354"/>
            <a:ext cx="9089213" cy="174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8"/>
              </a:lnSpc>
            </a:pPr>
            <a:r>
              <a:rPr lang="en-US" sz="1006" spc="11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STRUKTUR DATA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3425" y="2354072"/>
            <a:ext cx="8290560" cy="2568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47600" indent="-173800" lvl="1">
              <a:lnSpc>
                <a:spcPts val="2254"/>
              </a:lnSpc>
              <a:buFont typeface="Arial"/>
              <a:buChar char="•"/>
            </a:pPr>
            <a:r>
              <a:rPr lang="en-US" b="true" sz="1610" spc="177">
                <a:solidFill>
                  <a:srgbClr val="306B99"/>
                </a:solidFill>
                <a:latin typeface="Lato Bold"/>
                <a:ea typeface="Lato Bold"/>
                <a:cs typeface="Lato Bold"/>
                <a:sym typeface="Lato Bold"/>
              </a:rPr>
              <a:t>N</a:t>
            </a:r>
            <a:r>
              <a:rPr lang="en-US" b="true" sz="1610" spc="177">
                <a:solidFill>
                  <a:srgbClr val="306B99"/>
                </a:solidFill>
                <a:latin typeface="Lato Bold"/>
                <a:ea typeface="Lato Bold"/>
                <a:cs typeface="Lato Bold"/>
                <a:sym typeface="Lato Bold"/>
              </a:rPr>
              <a:t>ODE :</a:t>
            </a:r>
            <a:r>
              <a:rPr lang="en-US" sz="1610" spc="177">
                <a:solidFill>
                  <a:srgbClr val="306B99"/>
                </a:solidFill>
                <a:latin typeface="Lato"/>
                <a:ea typeface="Lato"/>
                <a:cs typeface="Lato"/>
                <a:sym typeface="Lato"/>
              </a:rPr>
              <a:t> ELEMEN ATAU UNIT DATA DI DALAM TREE.</a:t>
            </a:r>
          </a:p>
          <a:p>
            <a:pPr algn="just" marL="347600" indent="-173800" lvl="1">
              <a:lnSpc>
                <a:spcPts val="2254"/>
              </a:lnSpc>
              <a:buFont typeface="Arial"/>
              <a:buChar char="•"/>
            </a:pPr>
            <a:r>
              <a:rPr lang="en-US" b="true" sz="1610" spc="177">
                <a:solidFill>
                  <a:srgbClr val="306B99"/>
                </a:solidFill>
                <a:latin typeface="Lato Bold"/>
                <a:ea typeface="Lato Bold"/>
                <a:cs typeface="Lato Bold"/>
                <a:sym typeface="Lato Bold"/>
              </a:rPr>
              <a:t>ROOT :</a:t>
            </a:r>
            <a:r>
              <a:rPr lang="en-US" sz="1610" spc="177">
                <a:solidFill>
                  <a:srgbClr val="306B99"/>
                </a:solidFill>
                <a:latin typeface="Lato"/>
                <a:ea typeface="Lato"/>
                <a:cs typeface="Lato"/>
                <a:sym typeface="Lato"/>
              </a:rPr>
              <a:t> NODE PALING ATAS DALAM TREE.</a:t>
            </a:r>
          </a:p>
          <a:p>
            <a:pPr algn="just" marL="347600" indent="-173800" lvl="1">
              <a:lnSpc>
                <a:spcPts val="2254"/>
              </a:lnSpc>
              <a:buFont typeface="Arial"/>
              <a:buChar char="•"/>
            </a:pPr>
            <a:r>
              <a:rPr lang="en-US" b="true" sz="1610" spc="177">
                <a:solidFill>
                  <a:srgbClr val="306B99"/>
                </a:solidFill>
                <a:latin typeface="Lato Bold"/>
                <a:ea typeface="Lato Bold"/>
                <a:cs typeface="Lato Bold"/>
                <a:sym typeface="Lato Bold"/>
              </a:rPr>
              <a:t>EDGE :</a:t>
            </a:r>
            <a:r>
              <a:rPr lang="en-US" sz="1610" spc="177">
                <a:solidFill>
                  <a:srgbClr val="306B99"/>
                </a:solidFill>
                <a:latin typeface="Lato"/>
                <a:ea typeface="Lato"/>
                <a:cs typeface="Lato"/>
                <a:sym typeface="Lato"/>
              </a:rPr>
              <a:t> HUBUNGAN ANTARA DUA NODE DALAM TREE.</a:t>
            </a:r>
          </a:p>
          <a:p>
            <a:pPr algn="just" marL="347600" indent="-173800" lvl="1">
              <a:lnSpc>
                <a:spcPts val="2254"/>
              </a:lnSpc>
              <a:buFont typeface="Arial"/>
              <a:buChar char="•"/>
            </a:pPr>
            <a:r>
              <a:rPr lang="en-US" b="true" sz="1610" spc="177">
                <a:solidFill>
                  <a:srgbClr val="306B99"/>
                </a:solidFill>
                <a:latin typeface="Lato Bold"/>
                <a:ea typeface="Lato Bold"/>
                <a:cs typeface="Lato Bold"/>
                <a:sym typeface="Lato Bold"/>
              </a:rPr>
              <a:t>PARENT :</a:t>
            </a:r>
            <a:r>
              <a:rPr lang="en-US" sz="1610" spc="177">
                <a:solidFill>
                  <a:srgbClr val="306B99"/>
                </a:solidFill>
                <a:latin typeface="Lato"/>
                <a:ea typeface="Lato"/>
                <a:cs typeface="Lato"/>
                <a:sym typeface="Lato"/>
              </a:rPr>
              <a:t> NODE YANG MEMILIKI ANAK (CHILD NODE).</a:t>
            </a:r>
          </a:p>
          <a:p>
            <a:pPr algn="just" marL="347600" indent="-173800" lvl="1">
              <a:lnSpc>
                <a:spcPts val="2254"/>
              </a:lnSpc>
              <a:buFont typeface="Arial"/>
              <a:buChar char="•"/>
            </a:pPr>
            <a:r>
              <a:rPr lang="en-US" b="true" sz="1610" spc="177">
                <a:solidFill>
                  <a:srgbClr val="306B99"/>
                </a:solidFill>
                <a:latin typeface="Lato Bold"/>
                <a:ea typeface="Lato Bold"/>
                <a:cs typeface="Lato Bold"/>
                <a:sym typeface="Lato Bold"/>
              </a:rPr>
              <a:t>CHILD :</a:t>
            </a:r>
            <a:r>
              <a:rPr lang="en-US" sz="1610" spc="177">
                <a:solidFill>
                  <a:srgbClr val="306B99"/>
                </a:solidFill>
                <a:latin typeface="Lato"/>
                <a:ea typeface="Lato"/>
                <a:cs typeface="Lato"/>
                <a:sym typeface="Lato"/>
              </a:rPr>
              <a:t> NODE YANG MERUPAKAN ANAK DARI NODE LAIN.</a:t>
            </a:r>
          </a:p>
          <a:p>
            <a:pPr algn="just" marL="347600" indent="-173800" lvl="1">
              <a:lnSpc>
                <a:spcPts val="2254"/>
              </a:lnSpc>
              <a:buFont typeface="Arial"/>
              <a:buChar char="•"/>
            </a:pPr>
            <a:r>
              <a:rPr lang="en-US" b="true" sz="1610" spc="177">
                <a:solidFill>
                  <a:srgbClr val="306B99"/>
                </a:solidFill>
                <a:latin typeface="Lato Bold"/>
                <a:ea typeface="Lato Bold"/>
                <a:cs typeface="Lato Bold"/>
                <a:sym typeface="Lato Bold"/>
              </a:rPr>
              <a:t>LEAF :</a:t>
            </a:r>
            <a:r>
              <a:rPr lang="en-US" sz="1610" spc="177">
                <a:solidFill>
                  <a:srgbClr val="306B99"/>
                </a:solidFill>
                <a:latin typeface="Lato"/>
                <a:ea typeface="Lato"/>
                <a:cs typeface="Lato"/>
                <a:sym typeface="Lato"/>
              </a:rPr>
              <a:t> NODE YANG TIDAK MEMILIKI ANAK (NODE TERMINAL).</a:t>
            </a:r>
          </a:p>
          <a:p>
            <a:pPr algn="just" marL="347600" indent="-173800" lvl="1">
              <a:lnSpc>
                <a:spcPts val="2254"/>
              </a:lnSpc>
              <a:buFont typeface="Arial"/>
              <a:buChar char="•"/>
            </a:pPr>
            <a:r>
              <a:rPr lang="en-US" b="true" sz="1610" spc="177">
                <a:solidFill>
                  <a:srgbClr val="306B99"/>
                </a:solidFill>
                <a:latin typeface="Lato Bold"/>
                <a:ea typeface="Lato Bold"/>
                <a:cs typeface="Lato Bold"/>
                <a:sym typeface="Lato Bold"/>
              </a:rPr>
              <a:t>SUBTREE :</a:t>
            </a:r>
            <a:r>
              <a:rPr lang="en-US" sz="1610" spc="177">
                <a:solidFill>
                  <a:srgbClr val="306B99"/>
                </a:solidFill>
                <a:latin typeface="Lato"/>
                <a:ea typeface="Lato"/>
                <a:cs typeface="Lato"/>
                <a:sym typeface="Lato"/>
              </a:rPr>
              <a:t> BAGIAN DARI TREE YANG TERDIRI DARI SEBUAH NODE DAN SEMUA TURUNANNYA.</a:t>
            </a:r>
          </a:p>
          <a:p>
            <a:pPr algn="ctr">
              <a:lnSpc>
                <a:spcPts val="225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36798" y="135439"/>
            <a:ext cx="9089213" cy="431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8"/>
              </a:lnSpc>
            </a:pPr>
            <a:r>
              <a:rPr lang="en-US" b="true" sz="2506" spc="275">
                <a:solidFill>
                  <a:srgbClr val="306B99"/>
                </a:solidFill>
                <a:latin typeface="Lato Bold"/>
                <a:ea typeface="Lato Bold"/>
                <a:cs typeface="Lato Bold"/>
                <a:sym typeface="Lato Bold"/>
              </a:rPr>
              <a:t>CIRI-CIRI TREE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14300" y="762000"/>
            <a:ext cx="9966009" cy="28575"/>
          </a:xfrm>
          <a:custGeom>
            <a:avLst/>
            <a:gdLst/>
            <a:ahLst/>
            <a:cxnLst/>
            <a:rect r="r" b="b" t="t" l="l"/>
            <a:pathLst>
              <a:path h="28575" w="9966009">
                <a:moveTo>
                  <a:pt x="0" y="0"/>
                </a:moveTo>
                <a:lnTo>
                  <a:pt x="9966009" y="0"/>
                </a:lnTo>
                <a:lnTo>
                  <a:pt x="9966009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7388336" r="0" b="-17388336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6B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9050"/>
            <a:ext cx="3495585" cy="7334250"/>
            <a:chOff x="0" y="0"/>
            <a:chExt cx="4660781" cy="9779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35105" t="0" r="35105" b="0"/>
            <a:stretch>
              <a:fillRect/>
            </a:stretch>
          </p:blipFill>
          <p:spPr>
            <a:xfrm flipH="false" flipV="false">
              <a:off x="0" y="0"/>
              <a:ext cx="4660781" cy="9779000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-101600" y="6692900"/>
            <a:ext cx="9966009" cy="622777"/>
          </a:xfrm>
          <a:custGeom>
            <a:avLst/>
            <a:gdLst/>
            <a:ahLst/>
            <a:cxnLst/>
            <a:rect r="r" b="b" t="t" l="l"/>
            <a:pathLst>
              <a:path h="622777" w="9966009">
                <a:moveTo>
                  <a:pt x="0" y="0"/>
                </a:moveTo>
                <a:lnTo>
                  <a:pt x="9966009" y="0"/>
                </a:lnTo>
                <a:lnTo>
                  <a:pt x="9966009" y="622777"/>
                </a:lnTo>
                <a:lnTo>
                  <a:pt x="0" y="6227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750127" r="0" b="-75012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0200" y="6899354"/>
            <a:ext cx="9089213" cy="174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8"/>
              </a:lnSpc>
            </a:pPr>
            <a:r>
              <a:rPr lang="en-US" sz="1006" spc="11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STRUKTUR DATA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495585" y="1057275"/>
            <a:ext cx="6258015" cy="5374177"/>
            <a:chOff x="0" y="0"/>
            <a:chExt cx="8344019" cy="716556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38100"/>
              <a:ext cx="8344019" cy="384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64"/>
                </a:lnSpc>
              </a:pPr>
              <a:r>
                <a:rPr lang="en-US" sz="1760" spc="193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JENIS-JENIS TREE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317867" y="866813"/>
              <a:ext cx="7648684" cy="62987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6224" indent="-228112" lvl="1">
                <a:lnSpc>
                  <a:spcPts val="2958"/>
                </a:lnSpc>
                <a:buFont typeface="Arial"/>
                <a:buChar char="•"/>
              </a:pPr>
              <a:r>
                <a:rPr lang="en-US" sz="2113" spc="21">
                  <a:solidFill>
                    <a:srgbClr val="FFFFFF"/>
                  </a:solidFill>
                  <a:latin typeface="Lato Hairline Bold"/>
                  <a:ea typeface="Lato Hairline Bold"/>
                  <a:cs typeface="Lato Hairline Bold"/>
                  <a:sym typeface="Lato Hairline Bold"/>
                </a:rPr>
                <a:t>Binary Tree : Setiap node memiliki maksimal dua anak.</a:t>
              </a:r>
            </a:p>
            <a:p>
              <a:pPr algn="l" marL="456224" indent="-228112" lvl="1">
                <a:lnSpc>
                  <a:spcPts val="2958"/>
                </a:lnSpc>
                <a:buFont typeface="Arial"/>
                <a:buChar char="•"/>
              </a:pPr>
              <a:r>
                <a:rPr lang="en-US" sz="2113" spc="21">
                  <a:solidFill>
                    <a:srgbClr val="FFFFFF"/>
                  </a:solidFill>
                  <a:latin typeface="Lato Hairline Bold"/>
                  <a:ea typeface="Lato Hairline Bold"/>
                  <a:cs typeface="Lato Hairline Bold"/>
                  <a:sym typeface="Lato Hairline Bold"/>
                </a:rPr>
                <a:t>Binary Search Tree (BST): Tree di mana anak kiri selalu lebih kecil dari parent, dan anak kanan selalu lebih besar dari parent.</a:t>
              </a:r>
            </a:p>
            <a:p>
              <a:pPr algn="l" marL="456224" indent="-228112" lvl="1">
                <a:lnSpc>
                  <a:spcPts val="2958"/>
                </a:lnSpc>
                <a:buFont typeface="Arial"/>
                <a:buChar char="•"/>
              </a:pPr>
              <a:r>
                <a:rPr lang="en-US" sz="2113" spc="21">
                  <a:solidFill>
                    <a:srgbClr val="FFFFFF"/>
                  </a:solidFill>
                  <a:latin typeface="Lato Hairline Bold"/>
                  <a:ea typeface="Lato Hairline Bold"/>
                  <a:cs typeface="Lato Hairline Bold"/>
                  <a:sym typeface="Lato Hairline Bold"/>
                </a:rPr>
                <a:t>AVL Tree: Versi seimbang dari Binary Search Tree.</a:t>
              </a:r>
            </a:p>
            <a:p>
              <a:pPr algn="l" marL="456224" indent="-228112" lvl="1">
                <a:lnSpc>
                  <a:spcPts val="2958"/>
                </a:lnSpc>
                <a:buFont typeface="Arial"/>
                <a:buChar char="•"/>
              </a:pPr>
              <a:r>
                <a:rPr lang="en-US" sz="2113" spc="21">
                  <a:solidFill>
                    <a:srgbClr val="FFFFFF"/>
                  </a:solidFill>
                  <a:latin typeface="Lato Hairline Bold"/>
                  <a:ea typeface="Lato Hairline Bold"/>
                  <a:cs typeface="Lato Hairline Bold"/>
                  <a:sym typeface="Lato Hairline Bold"/>
                </a:rPr>
                <a:t>Heap Tree: Tree yang mematuhi sifat heap, yaitu setiap parent lebih besar (max-heap) atau lebih kecil (min-heap) dari anak-anaknya.</a:t>
              </a:r>
            </a:p>
            <a:p>
              <a:pPr algn="l">
                <a:lnSpc>
                  <a:spcPts val="3378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114300" y="762000"/>
            <a:ext cx="9966009" cy="28575"/>
          </a:xfrm>
          <a:custGeom>
            <a:avLst/>
            <a:gdLst/>
            <a:ahLst/>
            <a:cxnLst/>
            <a:rect r="r" b="b" t="t" l="l"/>
            <a:pathLst>
              <a:path h="28575" w="9966009">
                <a:moveTo>
                  <a:pt x="0" y="0"/>
                </a:moveTo>
                <a:lnTo>
                  <a:pt x="9966009" y="0"/>
                </a:lnTo>
                <a:lnTo>
                  <a:pt x="9966009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7388336" r="0" b="-17388336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36825" y="-9525"/>
            <a:ext cx="3516163" cy="7334250"/>
            <a:chOff x="0" y="0"/>
            <a:chExt cx="4688217" cy="9779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33999" t="0" r="33999" b="0"/>
            <a:stretch>
              <a:fillRect/>
            </a:stretch>
          </p:blipFill>
          <p:spPr>
            <a:xfrm flipH="false" flipV="false">
              <a:off x="0" y="0"/>
              <a:ext cx="4688217" cy="9779000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-101600" y="6692900"/>
            <a:ext cx="9966009" cy="622777"/>
          </a:xfrm>
          <a:custGeom>
            <a:avLst/>
            <a:gdLst/>
            <a:ahLst/>
            <a:cxnLst/>
            <a:rect r="r" b="b" t="t" l="l"/>
            <a:pathLst>
              <a:path h="622777" w="9966009">
                <a:moveTo>
                  <a:pt x="0" y="0"/>
                </a:moveTo>
                <a:lnTo>
                  <a:pt x="9966009" y="0"/>
                </a:lnTo>
                <a:lnTo>
                  <a:pt x="9966009" y="622777"/>
                </a:lnTo>
                <a:lnTo>
                  <a:pt x="0" y="6227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750127" r="0" b="-75012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0200" y="6899354"/>
            <a:ext cx="9089213" cy="174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8"/>
              </a:lnSpc>
            </a:pPr>
            <a:r>
              <a:rPr lang="en-US" sz="1006" spc="11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STRUKTUR DATA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1269188"/>
            <a:ext cx="6236825" cy="3501562"/>
            <a:chOff x="0" y="0"/>
            <a:chExt cx="8315767" cy="466874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38100"/>
              <a:ext cx="8315767" cy="384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64"/>
                </a:lnSpc>
              </a:pPr>
              <a:r>
                <a:rPr lang="en-US" sz="1760" spc="193">
                  <a:solidFill>
                    <a:srgbClr val="306B99"/>
                  </a:solidFill>
                  <a:latin typeface="Lato"/>
                  <a:ea typeface="Lato"/>
                  <a:cs typeface="Lato"/>
                  <a:sym typeface="Lato"/>
                </a:rPr>
                <a:t>OPERASI DASAR PADA TREE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336591" y="1044613"/>
              <a:ext cx="7622786" cy="36241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6224" indent="-228112" lvl="1">
                <a:lnSpc>
                  <a:spcPts val="2958"/>
                </a:lnSpc>
                <a:buFont typeface="Arial"/>
                <a:buChar char="•"/>
              </a:pPr>
              <a:r>
                <a:rPr lang="en-US" sz="2113" spc="21">
                  <a:solidFill>
                    <a:srgbClr val="306B99"/>
                  </a:solidFill>
                  <a:latin typeface="Lato Hairline Bold"/>
                  <a:ea typeface="Lato Hairline Bold"/>
                  <a:cs typeface="Lato Hairline Bold"/>
                  <a:sym typeface="Lato Hairline Bold"/>
                </a:rPr>
                <a:t>Inse</a:t>
              </a:r>
              <a:r>
                <a:rPr lang="en-US" sz="2113" spc="21">
                  <a:solidFill>
                    <a:srgbClr val="306B99"/>
                  </a:solidFill>
                  <a:latin typeface="Lato Hairline Bold"/>
                  <a:ea typeface="Lato Hairline Bold"/>
                  <a:cs typeface="Lato Hairline Bold"/>
                  <a:sym typeface="Lato Hairline Bold"/>
                </a:rPr>
                <a:t>rt (Menambah node) : Menambahkan node baru ke dalam Tree.</a:t>
              </a:r>
            </a:p>
            <a:p>
              <a:pPr algn="l" marL="456224" indent="-228112" lvl="1">
                <a:lnSpc>
                  <a:spcPts val="2958"/>
                </a:lnSpc>
                <a:buFont typeface="Arial"/>
                <a:buChar char="•"/>
              </a:pPr>
              <a:r>
                <a:rPr lang="en-US" sz="2113" spc="21">
                  <a:solidFill>
                    <a:srgbClr val="306B99"/>
                  </a:solidFill>
                  <a:latin typeface="Lato Hairline Bold"/>
                  <a:ea typeface="Lato Hairline Bold"/>
                  <a:cs typeface="Lato Hairline Bold"/>
                  <a:sym typeface="Lato Hairline Bold"/>
                </a:rPr>
                <a:t>Delete (Menghapus node) : Menghapus node dari Tree.</a:t>
              </a:r>
            </a:p>
            <a:p>
              <a:pPr algn="l" marL="456224" indent="-228112" lvl="1">
                <a:lnSpc>
                  <a:spcPts val="2958"/>
                </a:lnSpc>
                <a:buFont typeface="Arial"/>
                <a:buChar char="•"/>
              </a:pPr>
              <a:r>
                <a:rPr lang="en-US" sz="2113" spc="21">
                  <a:solidFill>
                    <a:srgbClr val="306B99"/>
                  </a:solidFill>
                  <a:latin typeface="Lato Hairline Bold"/>
                  <a:ea typeface="Lato Hairline Bold"/>
                  <a:cs typeface="Lato Hairline Bold"/>
                  <a:sym typeface="Lato Hairline Bold"/>
                </a:rPr>
                <a:t>Search (Mencari node) : Mencari node tertentu di dalam Tree.</a:t>
              </a:r>
            </a:p>
            <a:p>
              <a:pPr algn="ctr">
                <a:lnSpc>
                  <a:spcPts val="2958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114300" y="762000"/>
            <a:ext cx="9966009" cy="28575"/>
          </a:xfrm>
          <a:custGeom>
            <a:avLst/>
            <a:gdLst/>
            <a:ahLst/>
            <a:cxnLst/>
            <a:rect r="r" b="b" t="t" l="l"/>
            <a:pathLst>
              <a:path h="28575" w="9966009">
                <a:moveTo>
                  <a:pt x="0" y="0"/>
                </a:moveTo>
                <a:lnTo>
                  <a:pt x="9966009" y="0"/>
                </a:lnTo>
                <a:lnTo>
                  <a:pt x="9966009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388336" r="0" b="-17388336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6B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1600" y="6692900"/>
            <a:ext cx="9966009" cy="622777"/>
          </a:xfrm>
          <a:custGeom>
            <a:avLst/>
            <a:gdLst/>
            <a:ahLst/>
            <a:cxnLst/>
            <a:rect r="r" b="b" t="t" l="l"/>
            <a:pathLst>
              <a:path h="622777" w="9966009">
                <a:moveTo>
                  <a:pt x="0" y="0"/>
                </a:moveTo>
                <a:lnTo>
                  <a:pt x="9966009" y="0"/>
                </a:lnTo>
                <a:lnTo>
                  <a:pt x="9966009" y="622777"/>
                </a:lnTo>
                <a:lnTo>
                  <a:pt x="0" y="6227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50127" r="0" b="-7501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0200" y="6899354"/>
            <a:ext cx="9089213" cy="174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8"/>
              </a:lnSpc>
            </a:pPr>
            <a:r>
              <a:rPr lang="en-US" sz="1006" spc="11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STRUKTUR DATA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04717" y="2396105"/>
            <a:ext cx="7953375" cy="2151515"/>
            <a:chOff x="0" y="0"/>
            <a:chExt cx="10604500" cy="286868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0"/>
              <a:ext cx="10604500" cy="9427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16"/>
                </a:lnSpc>
              </a:pPr>
              <a:r>
                <a:rPr lang="en-US" sz="4226">
                  <a:solidFill>
                    <a:srgbClr val="FFFFFF"/>
                  </a:solidFill>
                  <a:latin typeface="Arvo"/>
                  <a:ea typeface="Arvo"/>
                  <a:cs typeface="Arvo"/>
                  <a:sym typeface="Arvo"/>
                </a:rPr>
                <a:t>TRAVERSAL PADA TREE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753533" y="882851"/>
              <a:ext cx="9080500" cy="19858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58"/>
                </a:lnSpc>
              </a:pPr>
              <a:r>
                <a:rPr lang="en-US" sz="2113" spc="21">
                  <a:solidFill>
                    <a:srgbClr val="FFFFFF"/>
                  </a:solidFill>
                  <a:latin typeface="Lato Hairline"/>
                  <a:ea typeface="Lato Hairline"/>
                  <a:cs typeface="Lato Hairline"/>
                  <a:sym typeface="Lato Hairline"/>
                </a:rPr>
                <a:t>Traversal adalah proses mengunjungi setiap node dalam tree secara sistematis. Ada tiga jenis traversal utama pada Binary Tree :Preorder Traversal, Inorder Traversal, Postorder Traversal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36825" y="-9525"/>
            <a:ext cx="3516163" cy="7334250"/>
            <a:chOff x="0" y="0"/>
            <a:chExt cx="4688217" cy="9779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33999" t="0" r="33999" b="0"/>
            <a:stretch>
              <a:fillRect/>
            </a:stretch>
          </p:blipFill>
          <p:spPr>
            <a:xfrm flipH="false" flipV="false">
              <a:off x="0" y="0"/>
              <a:ext cx="4688217" cy="9779000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-101600" y="6692900"/>
            <a:ext cx="9966009" cy="622777"/>
          </a:xfrm>
          <a:custGeom>
            <a:avLst/>
            <a:gdLst/>
            <a:ahLst/>
            <a:cxnLst/>
            <a:rect r="r" b="b" t="t" l="l"/>
            <a:pathLst>
              <a:path h="622777" w="9966009">
                <a:moveTo>
                  <a:pt x="0" y="0"/>
                </a:moveTo>
                <a:lnTo>
                  <a:pt x="9966009" y="0"/>
                </a:lnTo>
                <a:lnTo>
                  <a:pt x="9966009" y="622777"/>
                </a:lnTo>
                <a:lnTo>
                  <a:pt x="0" y="6227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750127" r="0" b="-75012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14300" y="762000"/>
            <a:ext cx="9966009" cy="28575"/>
          </a:xfrm>
          <a:custGeom>
            <a:avLst/>
            <a:gdLst/>
            <a:ahLst/>
            <a:cxnLst/>
            <a:rect r="r" b="b" t="t" l="l"/>
            <a:pathLst>
              <a:path h="28575" w="9966009">
                <a:moveTo>
                  <a:pt x="0" y="0"/>
                </a:moveTo>
                <a:lnTo>
                  <a:pt x="9966009" y="0"/>
                </a:lnTo>
                <a:lnTo>
                  <a:pt x="9966009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388336" r="0" b="-1738833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15960" y="3657600"/>
            <a:ext cx="5204905" cy="1991673"/>
          </a:xfrm>
          <a:custGeom>
            <a:avLst/>
            <a:gdLst/>
            <a:ahLst/>
            <a:cxnLst/>
            <a:rect r="r" b="b" t="t" l="l"/>
            <a:pathLst>
              <a:path h="1991673" w="5204905">
                <a:moveTo>
                  <a:pt x="0" y="0"/>
                </a:moveTo>
                <a:lnTo>
                  <a:pt x="5204905" y="0"/>
                </a:lnTo>
                <a:lnTo>
                  <a:pt x="5204905" y="1991673"/>
                </a:lnTo>
                <a:lnTo>
                  <a:pt x="0" y="19916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0200" y="6899354"/>
            <a:ext cx="9089213" cy="174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8"/>
              </a:lnSpc>
            </a:pPr>
            <a:r>
              <a:rPr lang="en-US" sz="1006" spc="11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STRUKTUR DATA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1040989"/>
            <a:ext cx="6236825" cy="1958512"/>
            <a:chOff x="0" y="0"/>
            <a:chExt cx="8315767" cy="261134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8315767" cy="384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64"/>
                </a:lnSpc>
              </a:pPr>
              <a:r>
                <a:rPr lang="en-US" sz="1760" spc="193">
                  <a:solidFill>
                    <a:srgbClr val="306B99"/>
                  </a:solidFill>
                  <a:latin typeface="Lato"/>
                  <a:ea typeface="Lato"/>
                  <a:cs typeface="Lato"/>
                  <a:sym typeface="Lato"/>
                </a:rPr>
                <a:t>PREORDER TRAVERSAL (ROOT, LEFT, RIGHT)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336591" y="1044613"/>
              <a:ext cx="7622786" cy="15667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6224" indent="-228112" lvl="1">
                <a:lnSpc>
                  <a:spcPts val="2958"/>
                </a:lnSpc>
                <a:buFont typeface="Arial"/>
                <a:buChar char="•"/>
              </a:pPr>
              <a:r>
                <a:rPr lang="en-US" sz="2113" spc="21">
                  <a:solidFill>
                    <a:srgbClr val="306B99"/>
                  </a:solidFill>
                  <a:latin typeface="Lato Hairline Bold"/>
                  <a:ea typeface="Lato Hairline Bold"/>
                  <a:cs typeface="Lato Hairline Bold"/>
                  <a:sym typeface="Lato Hairline Bold"/>
                </a:rPr>
                <a:t>Kunjungi root terlebih dahulu.</a:t>
              </a:r>
            </a:p>
            <a:p>
              <a:pPr algn="l" marL="456224" indent="-228112" lvl="1">
                <a:lnSpc>
                  <a:spcPts val="2958"/>
                </a:lnSpc>
                <a:buFont typeface="Arial"/>
                <a:buChar char="•"/>
              </a:pPr>
              <a:r>
                <a:rPr lang="en-US" sz="2113" spc="21">
                  <a:solidFill>
                    <a:srgbClr val="306B99"/>
                  </a:solidFill>
                  <a:latin typeface="Lato Hairline Bold"/>
                  <a:ea typeface="Lato Hairline Bold"/>
                  <a:cs typeface="Lato Hairline Bold"/>
                  <a:sym typeface="Lato Hairline Bold"/>
                </a:rPr>
                <a:t>Lakukan traversal pada subtree kiri.</a:t>
              </a:r>
            </a:p>
            <a:p>
              <a:pPr algn="l" marL="456224" indent="-228112" lvl="1">
                <a:lnSpc>
                  <a:spcPts val="2958"/>
                </a:lnSpc>
                <a:buFont typeface="Arial"/>
                <a:buChar char="•"/>
              </a:pPr>
              <a:r>
                <a:rPr lang="en-US" sz="2113" spc="21">
                  <a:solidFill>
                    <a:srgbClr val="306B99"/>
                  </a:solidFill>
                  <a:latin typeface="Lato Hairline Bold"/>
                  <a:ea typeface="Lato Hairline Bold"/>
                  <a:cs typeface="Lato Hairline Bold"/>
                  <a:sym typeface="Lato Hairline Bold"/>
                </a:rPr>
                <a:t>Lakukan traversal pada subtree kanan.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6B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9050"/>
            <a:ext cx="3495585" cy="7334250"/>
            <a:chOff x="0" y="0"/>
            <a:chExt cx="4660781" cy="9779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35105" t="0" r="35105" b="0"/>
            <a:stretch>
              <a:fillRect/>
            </a:stretch>
          </p:blipFill>
          <p:spPr>
            <a:xfrm flipH="false" flipV="false">
              <a:off x="0" y="0"/>
              <a:ext cx="4660781" cy="9779000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-101600" y="6692900"/>
            <a:ext cx="9966009" cy="622777"/>
          </a:xfrm>
          <a:custGeom>
            <a:avLst/>
            <a:gdLst/>
            <a:ahLst/>
            <a:cxnLst/>
            <a:rect r="r" b="b" t="t" l="l"/>
            <a:pathLst>
              <a:path h="622777" w="9966009">
                <a:moveTo>
                  <a:pt x="0" y="0"/>
                </a:moveTo>
                <a:lnTo>
                  <a:pt x="9966009" y="0"/>
                </a:lnTo>
                <a:lnTo>
                  <a:pt x="9966009" y="622777"/>
                </a:lnTo>
                <a:lnTo>
                  <a:pt x="0" y="6227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750127" r="0" b="-75012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14300" y="762000"/>
            <a:ext cx="9966009" cy="28575"/>
          </a:xfrm>
          <a:custGeom>
            <a:avLst/>
            <a:gdLst/>
            <a:ahLst/>
            <a:cxnLst/>
            <a:rect r="r" b="b" t="t" l="l"/>
            <a:pathLst>
              <a:path h="28575" w="9966009">
                <a:moveTo>
                  <a:pt x="0" y="0"/>
                </a:moveTo>
                <a:lnTo>
                  <a:pt x="9966009" y="0"/>
                </a:lnTo>
                <a:lnTo>
                  <a:pt x="9966009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7388336" r="0" b="-1738833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440860" y="3953578"/>
            <a:ext cx="4367466" cy="1678085"/>
          </a:xfrm>
          <a:custGeom>
            <a:avLst/>
            <a:gdLst/>
            <a:ahLst/>
            <a:cxnLst/>
            <a:rect r="r" b="b" t="t" l="l"/>
            <a:pathLst>
              <a:path h="1678085" w="4367466">
                <a:moveTo>
                  <a:pt x="0" y="0"/>
                </a:moveTo>
                <a:lnTo>
                  <a:pt x="4367466" y="0"/>
                </a:lnTo>
                <a:lnTo>
                  <a:pt x="4367466" y="1678085"/>
                </a:lnTo>
                <a:lnTo>
                  <a:pt x="0" y="16780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0200" y="6899354"/>
            <a:ext cx="9089213" cy="174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8"/>
              </a:lnSpc>
            </a:pPr>
            <a:r>
              <a:rPr lang="en-US" sz="1006" spc="11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STRUKTUR DATA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495585" y="1057275"/>
            <a:ext cx="6258015" cy="2215687"/>
            <a:chOff x="0" y="0"/>
            <a:chExt cx="8344019" cy="295424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8344019" cy="384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64"/>
                </a:lnSpc>
              </a:pPr>
              <a:r>
                <a:rPr lang="en-US" sz="1760" spc="193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INORDER TRAVERSAL (LEFT, ROOT, RIGHT)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317867" y="866813"/>
              <a:ext cx="7648684" cy="20874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6224" indent="-228112" lvl="1">
                <a:lnSpc>
                  <a:spcPts val="2958"/>
                </a:lnSpc>
                <a:buFont typeface="Arial"/>
                <a:buChar char="•"/>
              </a:pPr>
              <a:r>
                <a:rPr lang="en-US" sz="2113" spc="21">
                  <a:solidFill>
                    <a:srgbClr val="FFFFFF"/>
                  </a:solidFill>
                  <a:latin typeface="Lato Hairline Bold"/>
                  <a:ea typeface="Lato Hairline Bold"/>
                  <a:cs typeface="Lato Hairline Bold"/>
                  <a:sym typeface="Lato Hairline Bold"/>
                </a:rPr>
                <a:t>Lakukan traversal pada subtree kiri terlebih dahulu.</a:t>
              </a:r>
            </a:p>
            <a:p>
              <a:pPr algn="l" marL="456224" indent="-228112" lvl="1">
                <a:lnSpc>
                  <a:spcPts val="2958"/>
                </a:lnSpc>
                <a:buFont typeface="Arial"/>
                <a:buChar char="•"/>
              </a:pPr>
              <a:r>
                <a:rPr lang="en-US" sz="2113" spc="21">
                  <a:solidFill>
                    <a:srgbClr val="FFFFFF"/>
                  </a:solidFill>
                  <a:latin typeface="Lato Hairline Bold"/>
                  <a:ea typeface="Lato Hairline Bold"/>
                  <a:cs typeface="Lato Hairline Bold"/>
                  <a:sym typeface="Lato Hairline Bold"/>
                </a:rPr>
                <a:t>Kunjungi root.</a:t>
              </a:r>
            </a:p>
            <a:p>
              <a:pPr algn="l" marL="456224" indent="-228112" lvl="1">
                <a:lnSpc>
                  <a:spcPts val="2958"/>
                </a:lnSpc>
                <a:buFont typeface="Arial"/>
                <a:buChar char="•"/>
              </a:pPr>
              <a:r>
                <a:rPr lang="en-US" sz="2113" spc="21">
                  <a:solidFill>
                    <a:srgbClr val="FFFFFF"/>
                  </a:solidFill>
                  <a:latin typeface="Lato Hairline Bold"/>
                  <a:ea typeface="Lato Hairline Bold"/>
                  <a:cs typeface="Lato Hairline Bold"/>
                  <a:sym typeface="Lato Hairline Bold"/>
                </a:rPr>
                <a:t>Lakukan traversal pada subtree kanan.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36825" y="-9525"/>
            <a:ext cx="3516163" cy="7334250"/>
            <a:chOff x="0" y="0"/>
            <a:chExt cx="4688217" cy="9779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33999" t="0" r="33999" b="0"/>
            <a:stretch>
              <a:fillRect/>
            </a:stretch>
          </p:blipFill>
          <p:spPr>
            <a:xfrm flipH="false" flipV="false">
              <a:off x="0" y="0"/>
              <a:ext cx="4688217" cy="9779000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-101600" y="6692900"/>
            <a:ext cx="9966009" cy="622777"/>
          </a:xfrm>
          <a:custGeom>
            <a:avLst/>
            <a:gdLst/>
            <a:ahLst/>
            <a:cxnLst/>
            <a:rect r="r" b="b" t="t" l="l"/>
            <a:pathLst>
              <a:path h="622777" w="9966009">
                <a:moveTo>
                  <a:pt x="0" y="0"/>
                </a:moveTo>
                <a:lnTo>
                  <a:pt x="9966009" y="0"/>
                </a:lnTo>
                <a:lnTo>
                  <a:pt x="9966009" y="622777"/>
                </a:lnTo>
                <a:lnTo>
                  <a:pt x="0" y="6227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750127" r="0" b="-75012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14300" y="762000"/>
            <a:ext cx="9966009" cy="28575"/>
          </a:xfrm>
          <a:custGeom>
            <a:avLst/>
            <a:gdLst/>
            <a:ahLst/>
            <a:cxnLst/>
            <a:rect r="r" b="b" t="t" l="l"/>
            <a:pathLst>
              <a:path h="28575" w="9966009">
                <a:moveTo>
                  <a:pt x="0" y="0"/>
                </a:moveTo>
                <a:lnTo>
                  <a:pt x="9966009" y="0"/>
                </a:lnTo>
                <a:lnTo>
                  <a:pt x="9966009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388336" r="0" b="-1738833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18370" y="3888018"/>
            <a:ext cx="5200085" cy="1946698"/>
          </a:xfrm>
          <a:custGeom>
            <a:avLst/>
            <a:gdLst/>
            <a:ahLst/>
            <a:cxnLst/>
            <a:rect r="r" b="b" t="t" l="l"/>
            <a:pathLst>
              <a:path h="1946698" w="5200085">
                <a:moveTo>
                  <a:pt x="0" y="0"/>
                </a:moveTo>
                <a:lnTo>
                  <a:pt x="5200085" y="0"/>
                </a:lnTo>
                <a:lnTo>
                  <a:pt x="5200085" y="1946698"/>
                </a:lnTo>
                <a:lnTo>
                  <a:pt x="0" y="19466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0200" y="6899354"/>
            <a:ext cx="9089213" cy="174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8"/>
              </a:lnSpc>
            </a:pPr>
            <a:r>
              <a:rPr lang="en-US" sz="1006" spc="11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STRUKTUR DATA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1040989"/>
            <a:ext cx="6236825" cy="2349037"/>
            <a:chOff x="0" y="0"/>
            <a:chExt cx="8315767" cy="313204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8315767" cy="384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64"/>
                </a:lnSpc>
              </a:pPr>
              <a:r>
                <a:rPr lang="en-US" sz="1760" spc="193">
                  <a:solidFill>
                    <a:srgbClr val="306B99"/>
                  </a:solidFill>
                  <a:latin typeface="Lato"/>
                  <a:ea typeface="Lato"/>
                  <a:cs typeface="Lato"/>
                  <a:sym typeface="Lato"/>
                </a:rPr>
                <a:t>POSTORDER TRAVERSAL (LEFT, RIGHT, ROOT)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336591" y="1044613"/>
              <a:ext cx="7622786" cy="20874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6224" indent="-228112" lvl="1">
                <a:lnSpc>
                  <a:spcPts val="2958"/>
                </a:lnSpc>
                <a:buFont typeface="Arial"/>
                <a:buChar char="•"/>
              </a:pPr>
              <a:r>
                <a:rPr lang="en-US" sz="2113" spc="21">
                  <a:solidFill>
                    <a:srgbClr val="306B99"/>
                  </a:solidFill>
                  <a:latin typeface="Lato Hairline Bold"/>
                  <a:ea typeface="Lato Hairline Bold"/>
                  <a:cs typeface="Lato Hairline Bold"/>
                  <a:sym typeface="Lato Hairline Bold"/>
                </a:rPr>
                <a:t>Lakukan traversal pada subtree kiri terlebih dahulu.</a:t>
              </a:r>
            </a:p>
            <a:p>
              <a:pPr algn="l" marL="456224" indent="-228112" lvl="1">
                <a:lnSpc>
                  <a:spcPts val="2958"/>
                </a:lnSpc>
                <a:buFont typeface="Arial"/>
                <a:buChar char="•"/>
              </a:pPr>
              <a:r>
                <a:rPr lang="en-US" sz="2113" spc="21">
                  <a:solidFill>
                    <a:srgbClr val="306B99"/>
                  </a:solidFill>
                  <a:latin typeface="Lato Hairline Bold"/>
                  <a:ea typeface="Lato Hairline Bold"/>
                  <a:cs typeface="Lato Hairline Bold"/>
                  <a:sym typeface="Lato Hairline Bold"/>
                </a:rPr>
                <a:t>Lakukan traversal pada subtree kanan.</a:t>
              </a:r>
            </a:p>
            <a:p>
              <a:pPr algn="l" marL="456224" indent="-228112" lvl="1">
                <a:lnSpc>
                  <a:spcPts val="2958"/>
                </a:lnSpc>
                <a:buFont typeface="Arial"/>
                <a:buChar char="•"/>
              </a:pPr>
              <a:r>
                <a:rPr lang="en-US" sz="2113" spc="21">
                  <a:solidFill>
                    <a:srgbClr val="306B99"/>
                  </a:solidFill>
                  <a:latin typeface="Lato Hairline Bold"/>
                  <a:ea typeface="Lato Hairline Bold"/>
                  <a:cs typeface="Lato Hairline Bold"/>
                  <a:sym typeface="Lato Hairline Bold"/>
                </a:rPr>
                <a:t>Kunjungi root.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6B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1600" y="6692900"/>
            <a:ext cx="9966009" cy="622777"/>
          </a:xfrm>
          <a:custGeom>
            <a:avLst/>
            <a:gdLst/>
            <a:ahLst/>
            <a:cxnLst/>
            <a:rect r="r" b="b" t="t" l="l"/>
            <a:pathLst>
              <a:path h="622777" w="9966009">
                <a:moveTo>
                  <a:pt x="0" y="0"/>
                </a:moveTo>
                <a:lnTo>
                  <a:pt x="9966009" y="0"/>
                </a:lnTo>
                <a:lnTo>
                  <a:pt x="9966009" y="622777"/>
                </a:lnTo>
                <a:lnTo>
                  <a:pt x="0" y="6227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50127" r="0" b="-7501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6125" y="1393241"/>
            <a:ext cx="8290560" cy="4528718"/>
          </a:xfrm>
          <a:custGeom>
            <a:avLst/>
            <a:gdLst/>
            <a:ahLst/>
            <a:cxnLst/>
            <a:rect r="r" b="b" t="t" l="l"/>
            <a:pathLst>
              <a:path h="4528718" w="8290560">
                <a:moveTo>
                  <a:pt x="0" y="0"/>
                </a:moveTo>
                <a:lnTo>
                  <a:pt x="8290560" y="0"/>
                </a:lnTo>
                <a:lnTo>
                  <a:pt x="8290560" y="4528718"/>
                </a:lnTo>
                <a:lnTo>
                  <a:pt x="0" y="45287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0200" y="6899354"/>
            <a:ext cx="9089213" cy="174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8"/>
              </a:lnSpc>
            </a:pPr>
            <a:r>
              <a:rPr lang="en-US" sz="1006" spc="11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STRUKTUR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DAGYDURQRq8</dc:identifier>
  <dcterms:modified xsi:type="dcterms:W3CDTF">2011-08-01T06:04:30Z</dcterms:modified>
  <cp:revision>1</cp:revision>
  <dc:title>Struktur data 10</dc:title>
</cp:coreProperties>
</file>